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deck_title"/>
          <p:cNvSpPr txBox="1"/>
          <p:nvPr/>
        </p:nvSpPr>
        <p:spPr>
          <a:xfrm>
            <a:off x="548640" y="457200"/>
            <a:ext cx="11091672"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NovaRetail — Quarterly Business Review</a:t>
            </a:r>
            <a:endParaRPr lang="en-US" sz="3200" dirty="0"/>
          </a:p>
        </p:txBody>
      </p:sp>
      <p:sp>
        <p:nvSpPr>
          <p:cNvPr id="3" name="subtitle_1"/>
          <p:cNvSpPr txBox="1"/>
          <p:nvPr/>
        </p:nvSpPr>
        <p:spPr>
          <a:xfrm>
            <a:off x="548640" y="1078992"/>
            <a:ext cx="11091672" cy="365760"/>
          </a:xfrm>
          <a:prstGeom prst="rect">
            <a:avLst/>
          </a:prstGeom>
          <a:noFill/>
          <a:ln/>
        </p:spPr>
        <p:txBody>
          <a:bodyPr wrap="square" lIns="0" tIns="0" rIns="0" bIns="0" rtlCol="0" anchor="ctr"/>
          <a:lstStyle/>
          <a:p>
            <a:pPr algn="l" indent="0" marL="0">
              <a:spcAft>
                <a:spcPts val="500"/>
              </a:spcAft>
              <a:buNone/>
            </a:pPr>
            <a:r>
              <a:rPr sz="1600"/>
              <a:t>Q2 2026 — Quarterly Business Review</a:t>
            </a:r>
            <a:endParaRPr lang="en-US" sz="1500" dirty="0"/>
          </a:p>
        </p:txBody>
      </p:sp>
      <p:sp>
        <p:nvSpPr>
          <p:cNvPr id="4" name="kpi1_box"/>
          <p:cNvSpPr/>
          <p:nvPr/>
        </p:nvSpPr>
        <p:spPr>
          <a:xfrm>
            <a:off x="548640" y="1874520"/>
            <a:ext cx="3453384" cy="1417320"/>
          </a:xfrm>
          <a:prstGeom prst="roundRect">
            <a:avLst>
              <a:gd name="adj" fmla="val 3871"/>
            </a:avLst>
          </a:prstGeom>
          <a:solidFill>
            <a:srgbClr val="14193F"/>
          </a:solidFill>
          <a:ln/>
        </p:spPr>
      </p:sp>
      <p:sp>
        <p:nvSpPr>
          <p:cNvPr id="5" name="kpi1_value"/>
          <p:cNvSpPr txBox="1"/>
          <p:nvPr/>
        </p:nvSpPr>
        <p:spPr>
          <a:xfrm>
            <a:off x="685800" y="2039112"/>
            <a:ext cx="3179064" cy="640080"/>
          </a:xfrm>
          <a:prstGeom prst="rect">
            <a:avLst/>
          </a:prstGeom>
          <a:noFill/>
          <a:ln/>
        </p:spPr>
        <p:txBody>
          <a:bodyPr wrap="square" lIns="0" tIns="0" rIns="0" bIns="0" rtlCol="0" anchor="ctr"/>
          <a:lstStyle/>
          <a:p>
            <a:pPr algn="l" indent="0" marL="0">
              <a:spcAft>
                <a:spcPts val="500"/>
              </a:spcAft>
              <a:buNone/>
            </a:pPr>
            <a:r>
              <a:rPr sz="2500" b="1"/>
              <a:t>$1.28B</a:t>
            </a:r>
            <a:endParaRPr lang="en-US" sz="3200" dirty="0"/>
          </a:p>
        </p:txBody>
      </p:sp>
      <p:sp>
        <p:nvSpPr>
          <p:cNvPr id="6" name="kpi1_label"/>
          <p:cNvSpPr txBox="1"/>
          <p:nvPr/>
        </p:nvSpPr>
        <p:spPr>
          <a:xfrm>
            <a:off x="685800" y="2743200"/>
            <a:ext cx="3179064" cy="502920"/>
          </a:xfrm>
          <a:prstGeom prst="rect">
            <a:avLst/>
          </a:prstGeom>
          <a:noFill/>
          <a:ln/>
        </p:spPr>
        <p:txBody>
          <a:bodyPr wrap="square" lIns="0" tIns="0" rIns="0" bIns="0" rtlCol="0" anchor="ctr"/>
          <a:lstStyle/>
          <a:p>
            <a:pPr algn="l" indent="0" marL="0">
              <a:spcAft>
                <a:spcPts val="500"/>
              </a:spcAft>
              <a:buNone/>
            </a:pPr>
            <a:r>
              <a:rPr sz="1100"/>
              <a:t>Total Revenue</a:t>
            </a:r>
            <a:endParaRPr lang="en-US" sz="1100" dirty="0"/>
          </a:p>
        </p:txBody>
      </p:sp>
      <p:sp>
        <p:nvSpPr>
          <p:cNvPr id="7" name="kpi2_box"/>
          <p:cNvSpPr/>
          <p:nvPr/>
        </p:nvSpPr>
        <p:spPr>
          <a:xfrm>
            <a:off x="4367784" y="1874520"/>
            <a:ext cx="3453384" cy="1417320"/>
          </a:xfrm>
          <a:prstGeom prst="roundRect">
            <a:avLst>
              <a:gd name="adj" fmla="val 3871"/>
            </a:avLst>
          </a:prstGeom>
          <a:solidFill>
            <a:srgbClr val="14193F"/>
          </a:solidFill>
          <a:ln/>
        </p:spPr>
      </p:sp>
      <p:sp>
        <p:nvSpPr>
          <p:cNvPr id="8" name="kpi2_value"/>
          <p:cNvSpPr txBox="1"/>
          <p:nvPr/>
        </p:nvSpPr>
        <p:spPr>
          <a:xfrm>
            <a:off x="4504944" y="2039112"/>
            <a:ext cx="3179064" cy="640080"/>
          </a:xfrm>
          <a:prstGeom prst="rect">
            <a:avLst/>
          </a:prstGeom>
          <a:noFill/>
          <a:ln/>
        </p:spPr>
        <p:txBody>
          <a:bodyPr wrap="square" lIns="0" tIns="0" rIns="0" bIns="0" rtlCol="0" anchor="ctr"/>
          <a:lstStyle/>
          <a:p>
            <a:pPr algn="l" indent="0" marL="0">
              <a:spcAft>
                <a:spcPts val="500"/>
              </a:spcAft>
              <a:buNone/>
            </a:pPr>
            <a:r>
              <a:rPr sz="2500" b="1"/>
              <a:t>+4.5%</a:t>
            </a:r>
            <a:endParaRPr lang="en-US" sz="3200" dirty="0"/>
          </a:p>
        </p:txBody>
      </p:sp>
      <p:sp>
        <p:nvSpPr>
          <p:cNvPr id="9" name="kpi2_label"/>
          <p:cNvSpPr txBox="1"/>
          <p:nvPr/>
        </p:nvSpPr>
        <p:spPr>
          <a:xfrm>
            <a:off x="4504944" y="2743200"/>
            <a:ext cx="3179064" cy="502920"/>
          </a:xfrm>
          <a:prstGeom prst="rect">
            <a:avLst/>
          </a:prstGeom>
          <a:noFill/>
          <a:ln/>
        </p:spPr>
        <p:txBody>
          <a:bodyPr wrap="square" lIns="0" tIns="0" rIns="0" bIns="0" rtlCol="0" anchor="ctr"/>
          <a:lstStyle/>
          <a:p>
            <a:pPr algn="l" indent="0" marL="0">
              <a:spcAft>
                <a:spcPts val="500"/>
              </a:spcAft>
              <a:buNone/>
            </a:pPr>
            <a:r>
              <a:rPr sz="1100"/>
              <a:t>QoQ Revenue Growth</a:t>
            </a:r>
            <a:endParaRPr lang="en-US" sz="1100" dirty="0"/>
          </a:p>
        </p:txBody>
      </p:sp>
      <p:sp>
        <p:nvSpPr>
          <p:cNvPr id="10" name="kpi3_box"/>
          <p:cNvSpPr/>
          <p:nvPr/>
        </p:nvSpPr>
        <p:spPr>
          <a:xfrm>
            <a:off x="8186928" y="1874520"/>
            <a:ext cx="3453384" cy="1417320"/>
          </a:xfrm>
          <a:prstGeom prst="roundRect">
            <a:avLst>
              <a:gd name="adj" fmla="val 3871"/>
            </a:avLst>
          </a:prstGeom>
          <a:solidFill>
            <a:srgbClr val="14193F"/>
          </a:solidFill>
          <a:ln/>
        </p:spPr>
      </p:sp>
      <p:sp>
        <p:nvSpPr>
          <p:cNvPr id="11" name="kpi3_value"/>
          <p:cNvSpPr txBox="1"/>
          <p:nvPr/>
        </p:nvSpPr>
        <p:spPr>
          <a:xfrm>
            <a:off x="8324088" y="2039112"/>
            <a:ext cx="3179064" cy="640080"/>
          </a:xfrm>
          <a:prstGeom prst="rect">
            <a:avLst/>
          </a:prstGeom>
          <a:noFill/>
          <a:ln/>
        </p:spPr>
        <p:txBody>
          <a:bodyPr wrap="square" lIns="0" tIns="0" rIns="0" bIns="0" rtlCol="0" anchor="ctr"/>
          <a:lstStyle/>
          <a:p>
            <a:pPr algn="l" indent="0" marL="0">
              <a:spcAft>
                <a:spcPts val="500"/>
              </a:spcAft>
              <a:buNone/>
            </a:pPr>
            <a:r>
              <a:rPr sz="2500" b="1"/>
              <a:t>53.2</a:t>
            </a:r>
            <a:endParaRPr lang="en-US" sz="3200" dirty="0"/>
          </a:p>
        </p:txBody>
      </p:sp>
      <p:sp>
        <p:nvSpPr>
          <p:cNvPr id="12" name="kpi3_label"/>
          <p:cNvSpPr txBox="1"/>
          <p:nvPr/>
        </p:nvSpPr>
        <p:spPr>
          <a:xfrm>
            <a:off x="8324088" y="2743200"/>
            <a:ext cx="3179064" cy="502920"/>
          </a:xfrm>
          <a:prstGeom prst="rect">
            <a:avLst/>
          </a:prstGeom>
          <a:noFill/>
          <a:ln/>
        </p:spPr>
        <p:txBody>
          <a:bodyPr wrap="square" lIns="0" tIns="0" rIns="0" bIns="0" rtlCol="0" anchor="ctr"/>
          <a:lstStyle/>
          <a:p>
            <a:pPr algn="l" indent="0" marL="0">
              <a:spcAft>
                <a:spcPts val="500"/>
              </a:spcAft>
              <a:buNone/>
            </a:pPr>
            <a:r>
              <a:rPr sz="1100"/>
              <a:t>Weighted Customer NPS</a:t>
            </a:r>
            <a:endParaRPr lang="en-US" sz="1100" dirty="0"/>
          </a:p>
        </p:txBody>
      </p:sp>
      <p:sp>
        <p:nvSpPr>
          <p:cNvPr id="13" name="summary_label"/>
          <p:cNvSpPr txBox="1"/>
          <p:nvPr/>
        </p:nvSpPr>
        <p:spPr>
          <a:xfrm>
            <a:off x="548640" y="3520440"/>
            <a:ext cx="9235440" cy="365760"/>
          </a:xfrm>
          <a:prstGeom prst="rect">
            <a:avLst/>
          </a:prstGeom>
          <a:noFill/>
          <a:ln/>
        </p:spPr>
        <p:txBody>
          <a:bodyPr wrap="square" lIns="0" tIns="0" rIns="0" bIns="0" rtlCol="0" anchor="ctr"/>
          <a:lstStyle/>
          <a:p>
            <a:pPr algn="l" indent="0" marL="0">
              <a:buNone/>
            </a:pPr>
            <a:r>
              <a:rPr lang="en-US" sz="1300" b="1" spc="200" kern="0" dirty="0">
                <a:solidFill>
                  <a:srgbClr val="CADCFC"/>
                </a:solidFill>
                <a:latin typeface="Calibri" pitchFamily="34" charset="0"/>
                <a:ea typeface="Calibri" pitchFamily="34" charset="-122"/>
                <a:cs typeface="Calibri" pitchFamily="34" charset="-120"/>
              </a:rPr>
              <a:t>EXECUTIVE SUMMARY</a:t>
            </a:r>
            <a:endParaRPr lang="en-US" sz="1300" dirty="0"/>
          </a:p>
        </p:txBody>
      </p:sp>
      <p:sp>
        <p:nvSpPr>
          <p:cNvPr id="14" name="summary_text"/>
          <p:cNvSpPr txBox="1"/>
          <p:nvPr/>
        </p:nvSpPr>
        <p:spPr>
          <a:xfrm>
            <a:off x="548640" y="3886200"/>
            <a:ext cx="9235440" cy="2331720"/>
          </a:xfrm>
          <a:prstGeom prst="rect">
            <a:avLst/>
          </a:prstGeom>
          <a:noFill/>
          <a:ln/>
        </p:spPr>
        <p:txBody>
          <a:bodyPr wrap="square" lIns="0" tIns="0" rIns="0" bIns="0" rtlCol="0" anchor="ctr"/>
          <a:lstStyle/>
          <a:p>
            <a:pPr algn="l" indent="0" marL="0">
              <a:spcAft>
                <a:spcPts val="500"/>
              </a:spcAft>
              <a:buNone/>
            </a:pPr>
            <a:r>
              <a:rPr sz="1300"/>
              <a:t>NovaRetail generated $1.28B in Q2 revenue, recovering 4.5% from the previous quarter. APAC delivered the strongest quarterly revenue increase and continues to lead customer experience. However, APAC's high warehouse utilization may constrain future growth. Latin America remains the most urgent concern, combining declining revenue with deteriorating customer satisfaction and operational risk.</a:t>
            </a:r>
            <a:endParaRPr lang="en-US" sz="1800" dirty="0"/>
          </a:p>
        </p:txBody>
      </p:sp>
      <p:sp>
        <p:nvSpPr>
          <p:cNvPr id="16" name="icon_1_label"/>
          <p:cNvSpPr txBox="1"/>
          <p:nvPr/>
        </p:nvSpPr>
        <p:spPr>
          <a:xfrm>
            <a:off x="10195560" y="4050792"/>
            <a:ext cx="1307592" cy="125272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ICON
</a:t>
            </a:r>
            <a:endParaRPr lang="en-US" sz="1300" dirty="0"/>
          </a:p>
          <a:p>
            <a:pPr algn="ctr" indent="0" marL="0">
              <a:buNone/>
            </a:pPr>
            <a:r>
              <a:rPr lang="en-US" sz="1050" i="1" dirty="0">
                <a:solidFill>
                  <a:srgbClr val="FFFFFF"/>
                </a:solidFill>
                <a:latin typeface="Calibri" pitchFamily="34" charset="0"/>
                <a:ea typeface="Calibri" pitchFamily="34" charset="-122"/>
                <a:cs typeface="Calibri" pitchFamily="34" charset="-120"/>
              </a:rPr>
              <a:t>Pick the icon that</a:t>
            </a:r>
            <a:endParaRPr lang="en-US" sz="1300" dirty="0"/>
          </a:p>
          <a:p>
            <a:pPr algn="ctr" indent="0" marL="0">
              <a:buNone/>
            </a:pPr>
            <a:r>
              <a:rPr lang="en-US" sz="1050" i="1" dirty="0">
                <a:solidFill>
                  <a:srgbClr val="FFFFFF"/>
                </a:solidFill>
                <a:latin typeface="Calibri" pitchFamily="34" charset="0"/>
                <a:ea typeface="Calibri" pitchFamily="34" charset="-122"/>
                <a:cs typeface="Calibri" pitchFamily="34" charset="-120"/>
              </a:rPr>
              <a:t>best represents this</a:t>
            </a:r>
            <a:endParaRPr lang="en-US" sz="1300" dirty="0"/>
          </a:p>
          <a:p>
            <a:pPr algn="ctr" indent="0" marL="0">
              <a:buNone/>
            </a:pPr>
            <a:r>
              <a:rPr lang="en-US" sz="1050" i="1" dirty="0">
                <a:solidFill>
                  <a:srgbClr val="FFFFFF"/>
                </a:solidFill>
                <a:latin typeface="Calibri" pitchFamily="34" charset="0"/>
                <a:ea typeface="Calibri" pitchFamily="34" charset="-122"/>
                <a:cs typeface="Calibri" pitchFamily="34" charset="-120"/>
              </a:rPr>
              <a:t>quarter's overall story</a:t>
            </a:r>
            <a:endParaRPr lang="en-US" sz="1300" dirty="0"/>
          </a:p>
        </p:txBody>
      </p:sp>
      <p:sp>
        <p:nvSpPr>
          <p:cNvPr id="17" name="footer_1"/>
          <p:cNvSpPr txBox="1"/>
          <p:nvPr/>
        </p:nvSpPr>
        <p:spPr>
          <a:xfrm>
            <a:off x="548640" y="6510528"/>
            <a:ext cx="7315200" cy="274320"/>
          </a:xfrm>
          <a:prstGeom prst="rect">
            <a:avLst/>
          </a:prstGeom>
          <a:noFill/>
          <a:ln/>
        </p:spPr>
        <p:txBody>
          <a:bodyPr wrap="square" lIns="0" tIns="0" rIns="0" bIns="0" rtlCol="0" anchor="ctr"/>
          <a:lstStyle/>
          <a:p>
            <a:pPr algn="l" indent="0" marL="0">
              <a:buNone/>
            </a:pPr>
            <a:r>
              <a:rPr lang="en-US" sz="950" dirty="0">
                <a:solidFill>
                  <a:srgbClr val="9FB3E8"/>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18" name="page_num_1"/>
          <p:cNvSpPr txBox="1"/>
          <p:nvPr/>
        </p:nvSpPr>
        <p:spPr>
          <a:xfrm>
            <a:off x="11274552" y="6510528"/>
            <a:ext cx="365760" cy="274320"/>
          </a:xfrm>
          <a:prstGeom prst="rect">
            <a:avLst/>
          </a:prstGeom>
          <a:noFill/>
          <a:ln/>
        </p:spPr>
        <p:txBody>
          <a:bodyPr wrap="square" lIns="0" tIns="0" rIns="0" bIns="0" rtlCol="0" anchor="ctr"/>
          <a:lstStyle/>
          <a:p>
            <a:pPr algn="r" indent="0" marL="0">
              <a:buNone/>
            </a:pPr>
            <a:r>
              <a:rPr lang="en-US" sz="950" dirty="0">
                <a:solidFill>
                  <a:srgbClr val="9FB3E8"/>
                </a:solidFill>
                <a:latin typeface="Calibri" pitchFamily="34" charset="0"/>
                <a:ea typeface="Calibri" pitchFamily="34" charset="-122"/>
                <a:cs typeface="Calibri" pitchFamily="34" charset="-120"/>
              </a:rPr>
              <a:t>1</a:t>
            </a:r>
            <a:endParaRPr lang="en-US" sz="950" dirty="0"/>
          </a:p>
        </p:txBody>
      </p:sp>
      <p:pic>
        <p:nvPicPr>
          <p:cNvPr id="19" name="generated_globe_region" descr="globe_region.png"/>
          <p:cNvPicPr>
            <a:picLocks noChangeAspect="1"/>
          </p:cNvPicPr>
          <p:nvPr/>
        </p:nvPicPr>
        <p:blipFill>
          <a:blip r:embed="rId3"/>
          <a:stretch>
            <a:fillRect/>
          </a:stretch>
        </p:blipFill>
        <p:spPr>
          <a:xfrm>
            <a:off x="10058400" y="3886200"/>
            <a:ext cx="1581912" cy="15819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_2"/>
          <p:cNvSpPr txBox="1"/>
          <p:nvPr/>
        </p:nvSpPr>
        <p:spPr>
          <a:xfrm>
            <a:off x="548640" y="365760"/>
            <a:ext cx="11091672" cy="868680"/>
          </a:xfrm>
          <a:prstGeom prst="rect">
            <a:avLst/>
          </a:prstGeom>
          <a:noFill/>
          <a:ln/>
        </p:spPr>
        <p:txBody>
          <a:bodyPr wrap="square" lIns="0" tIns="0" rIns="0" bIns="0" rtlCol="0" anchor="ctr"/>
          <a:lstStyle/>
          <a:p>
            <a:pPr algn="l" indent="0" marL="0">
              <a:spcAft>
                <a:spcPts val="500"/>
              </a:spcAft>
              <a:buNone/>
            </a:pPr>
            <a:r>
              <a:rPr sz="2200" b="1"/>
              <a:t>APAC Drives Growth While Latin America Continues to Decline</a:t>
            </a:r>
            <a:endParaRPr lang="en-US" sz="2400" dirty="0"/>
          </a:p>
        </p:txBody>
      </p:sp>
      <p:sp>
        <p:nvSpPr>
          <p:cNvPr id="4" name="chart_performance_label"/>
          <p:cNvSpPr txBox="1"/>
          <p:nvPr/>
        </p:nvSpPr>
        <p:spPr>
          <a:xfrm>
            <a:off x="685800" y="1581912"/>
            <a:ext cx="6400800" cy="4471416"/>
          </a:xfrm>
          <a:prstGeom prst="rect">
            <a:avLst/>
          </a:prstGeom>
          <a:noFill/>
          <a:ln/>
        </p:spPr>
        <p:txBody>
          <a:bodyPr wrap="square" lIns="0" tIns="0" rIns="0" bIns="0" rtlCol="0" anchor="t"/>
          <a:lstStyle/>
          <a:p>
            <a:pPr algn="ctr" indent="0" marL="0">
              <a:buNone/>
            </a:pPr>
            <a:r>
              <a:rPr lang="en-US" sz="1300" b="1" dirty="0">
                <a:solidFill>
                  <a:srgbClr val="1E2761"/>
                </a:solidFill>
                <a:latin typeface="Calibri" pitchFamily="34" charset="0"/>
                <a:ea typeface="Calibri" pitchFamily="34" charset="-122"/>
                <a:cs typeface="Calibri" pitchFamily="34" charset="-120"/>
              </a:rPr>
              <a:t>CHART
</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Insert your chart here.</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Suggested: grouped/stacked</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bar chart of Revenue by</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Region across quarters</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(Regional_Performance sheet)</a:t>
            </a:r>
            <a:endParaRPr lang="en-US" sz="1300" dirty="0"/>
          </a:p>
        </p:txBody>
      </p:sp>
      <p:sp>
        <p:nvSpPr>
          <p:cNvPr id="5" name="insights_performance"/>
          <p:cNvSpPr txBox="1"/>
          <p:nvPr/>
        </p:nvSpPr>
        <p:spPr>
          <a:xfrm>
            <a:off x="7543800" y="1417320"/>
            <a:ext cx="4096512" cy="3474720"/>
          </a:xfrm>
          <a:prstGeom prst="rect">
            <a:avLst/>
          </a:prstGeom>
          <a:noFill/>
          <a:ln/>
        </p:spPr>
        <p:txBody>
          <a:bodyPr wrap="square" lIns="0" tIns="0" rIns="0" bIns="0" rtlCol="0" anchor="ctr"/>
          <a:lstStyle/>
          <a:p>
            <a:pPr algn="l" indent="0" marL="0">
              <a:spcAft>
                <a:spcPts val="500"/>
              </a:spcAft>
              <a:buNone/>
            </a:pPr>
            <a:r>
              <a:rPr sz="1200"/>
              <a:t>APAC revenue increased to $330M, the strongest quarterly increase across the four regions.</a:t>
            </a:r>
            <a:endParaRPr lang="en-US" sz="1350" dirty="0"/>
          </a:p>
          <a:p>
            <a:pPr algn="l">
              <a:spcAft>
                <a:spcPts val="500"/>
              </a:spcAft>
            </a:pPr>
            <a:r>
              <a:rPr sz="1200"/>
              <a:t>North America remained the largest contributor, reaching $465M in Q2 revenue.</a:t>
            </a:r>
          </a:p>
          <a:p>
            <a:pPr algn="l">
              <a:spcAft>
                <a:spcPts val="500"/>
              </a:spcAft>
            </a:pPr>
            <a:r>
              <a:rPr sz="1200"/>
              <a:t>Europe recovered to $345M after its Q1 decline.</a:t>
            </a:r>
          </a:p>
          <a:p>
            <a:pPr algn="l">
              <a:spcAft>
                <a:spcPts val="500"/>
              </a:spcAft>
            </a:pPr>
            <a:r>
              <a:rPr sz="1200"/>
              <a:t>Latin America fell to $140M as returns increased to 8.2%.</a:t>
            </a:r>
          </a:p>
        </p:txBody>
      </p:sp>
      <p:sp>
        <p:nvSpPr>
          <p:cNvPr id="7" name="icon_2_label"/>
          <p:cNvSpPr txBox="1"/>
          <p:nvPr/>
        </p:nvSpPr>
        <p:spPr>
          <a:xfrm>
            <a:off x="7680960" y="5330952"/>
            <a:ext cx="1051560" cy="722376"/>
          </a:xfrm>
          <a:prstGeom prst="rect">
            <a:avLst/>
          </a:prstGeom>
          <a:noFill/>
          <a:ln/>
        </p:spPr>
        <p:txBody>
          <a:bodyPr wrap="square" lIns="0" tIns="0" rIns="0" bIns="0" rtlCol="0" anchor="t"/>
          <a:lstStyle/>
          <a:p>
            <a:pPr algn="ctr" indent="0" marL="0">
              <a:buNone/>
            </a:pPr>
            <a:r>
              <a:rPr lang="en-US" sz="1300" b="1" dirty="0">
                <a:solidFill>
                  <a:srgbClr val="1E2761"/>
                </a:solidFill>
                <a:latin typeface="Calibri" pitchFamily="34" charset="0"/>
                <a:ea typeface="Calibri" pitchFamily="34" charset="-122"/>
                <a:cs typeface="Calibri" pitchFamily="34" charset="-120"/>
              </a:rPr>
              <a:t>ICON
</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Pick the icon for</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growth / performance</a:t>
            </a:r>
            <a:endParaRPr lang="en-US" sz="1300" dirty="0"/>
          </a:p>
        </p:txBody>
      </p:sp>
      <p:sp>
        <p:nvSpPr>
          <p:cNvPr id="8" name="footer_2"/>
          <p:cNvSpPr txBox="1"/>
          <p:nvPr/>
        </p:nvSpPr>
        <p:spPr>
          <a:xfrm>
            <a:off x="548640" y="6510528"/>
            <a:ext cx="7315200" cy="274320"/>
          </a:xfrm>
          <a:prstGeom prst="rect">
            <a:avLst/>
          </a:prstGeom>
          <a:noFill/>
          <a:ln/>
        </p:spPr>
        <p:txBody>
          <a:bodyPr wrap="square" lIns="0" tIns="0" rIns="0" bIns="0" rtlCol="0" anchor="ctr"/>
          <a:lstStyle/>
          <a:p>
            <a:pPr algn="l" indent="0" marL="0">
              <a:buNone/>
            </a:pPr>
            <a:r>
              <a:rPr lang="en-US" sz="950" dirty="0">
                <a:solidFill>
                  <a:srgbClr val="5B6B8C"/>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9" name="page_num_2"/>
          <p:cNvSpPr txBox="1"/>
          <p:nvPr/>
        </p:nvSpPr>
        <p:spPr>
          <a:xfrm>
            <a:off x="11274552" y="6510528"/>
            <a:ext cx="365760" cy="274320"/>
          </a:xfrm>
          <a:prstGeom prst="rect">
            <a:avLst/>
          </a:prstGeom>
          <a:noFill/>
          <a:ln/>
        </p:spPr>
        <p:txBody>
          <a:bodyPr wrap="square" lIns="0" tIns="0" rIns="0" bIns="0" rtlCol="0" anchor="ctr"/>
          <a:lstStyle/>
          <a:p>
            <a:pPr algn="r" indent="0" marL="0">
              <a:buNone/>
            </a:pPr>
            <a:r>
              <a:rPr lang="en-US" sz="950" dirty="0">
                <a:solidFill>
                  <a:srgbClr val="5B6B8C"/>
                </a:solidFill>
                <a:latin typeface="Calibri" pitchFamily="34" charset="0"/>
                <a:ea typeface="Calibri" pitchFamily="34" charset="-122"/>
                <a:cs typeface="Calibri" pitchFamily="34" charset="-120"/>
              </a:rPr>
              <a:t>2</a:t>
            </a:r>
            <a:endParaRPr lang="en-US" sz="950" dirty="0"/>
          </a:p>
        </p:txBody>
      </p:sp>
      <p:pic>
        <p:nvPicPr>
          <p:cNvPr id="10" name="generated_revenue_by_region" descr="revenue_by_region.png"/>
          <p:cNvPicPr>
            <a:picLocks noChangeAspect="1"/>
          </p:cNvPicPr>
          <p:nvPr/>
        </p:nvPicPr>
        <p:blipFill>
          <a:blip r:embed="rId3"/>
          <a:stretch>
            <a:fillRect/>
          </a:stretch>
        </p:blipFill>
        <p:spPr>
          <a:xfrm>
            <a:off x="548640" y="1417320"/>
            <a:ext cx="6675120" cy="4800600"/>
          </a:xfrm>
          <a:prstGeom prst="rect">
            <a:avLst/>
          </a:prstGeom>
        </p:spPr>
      </p:pic>
      <p:pic>
        <p:nvPicPr>
          <p:cNvPr id="11" name="generated_growth_chart" descr="growth_chart.png"/>
          <p:cNvPicPr>
            <a:picLocks noChangeAspect="1"/>
          </p:cNvPicPr>
          <p:nvPr/>
        </p:nvPicPr>
        <p:blipFill>
          <a:blip r:embed="rId4"/>
          <a:stretch>
            <a:fillRect/>
          </a:stretch>
        </p:blipFill>
        <p:spPr>
          <a:xfrm>
            <a:off x="7543800" y="5166360"/>
            <a:ext cx="1325880" cy="10515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_3"/>
          <p:cNvSpPr txBox="1"/>
          <p:nvPr/>
        </p:nvSpPr>
        <p:spPr>
          <a:xfrm>
            <a:off x="548640" y="365760"/>
            <a:ext cx="11091672" cy="868680"/>
          </a:xfrm>
          <a:prstGeom prst="rect">
            <a:avLst/>
          </a:prstGeom>
          <a:noFill/>
          <a:ln/>
        </p:spPr>
        <p:txBody>
          <a:bodyPr wrap="square" lIns="0" tIns="0" rIns="0" bIns="0" rtlCol="0" anchor="ctr"/>
          <a:lstStyle/>
          <a:p>
            <a:pPr algn="l" indent="0" marL="0">
              <a:spcAft>
                <a:spcPts val="500"/>
              </a:spcAft>
              <a:buNone/>
            </a:pPr>
            <a:r>
              <a:rPr sz="2200" b="1"/>
              <a:t>Customer Experience Improves Everywhere Except Latin America</a:t>
            </a:r>
            <a:endParaRPr lang="en-US" sz="2400" dirty="0"/>
          </a:p>
        </p:txBody>
      </p:sp>
      <p:sp>
        <p:nvSpPr>
          <p:cNvPr id="4" name="chart_customer_label"/>
          <p:cNvSpPr txBox="1"/>
          <p:nvPr/>
        </p:nvSpPr>
        <p:spPr>
          <a:xfrm>
            <a:off x="685800" y="1581912"/>
            <a:ext cx="6400800" cy="4471416"/>
          </a:xfrm>
          <a:prstGeom prst="rect">
            <a:avLst/>
          </a:prstGeom>
          <a:noFill/>
          <a:ln/>
        </p:spPr>
        <p:txBody>
          <a:bodyPr wrap="square" lIns="0" tIns="0" rIns="0" bIns="0" rtlCol="0" anchor="t"/>
          <a:lstStyle/>
          <a:p>
            <a:pPr algn="ctr" indent="0" marL="0">
              <a:buNone/>
            </a:pPr>
            <a:r>
              <a:rPr lang="en-US" sz="1300" b="1" dirty="0">
                <a:solidFill>
                  <a:srgbClr val="1E2761"/>
                </a:solidFill>
                <a:latin typeface="Calibri" pitchFamily="34" charset="0"/>
                <a:ea typeface="Calibri" pitchFamily="34" charset="-122"/>
                <a:cs typeface="Calibri" pitchFamily="34" charset="-120"/>
              </a:rPr>
              <a:t>CHART
</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Insert your chart here.</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Suggested: line chart of</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NPS (or CSAT) by Region</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over time</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(Customer_Experience sheet)</a:t>
            </a:r>
            <a:endParaRPr lang="en-US" sz="1300" dirty="0"/>
          </a:p>
        </p:txBody>
      </p:sp>
      <p:sp>
        <p:nvSpPr>
          <p:cNvPr id="5" name="insights_customer"/>
          <p:cNvSpPr txBox="1"/>
          <p:nvPr/>
        </p:nvSpPr>
        <p:spPr>
          <a:xfrm>
            <a:off x="7543800" y="1417320"/>
            <a:ext cx="4096512" cy="3474720"/>
          </a:xfrm>
          <a:prstGeom prst="rect">
            <a:avLst/>
          </a:prstGeom>
          <a:noFill/>
          <a:ln/>
        </p:spPr>
        <p:txBody>
          <a:bodyPr wrap="square" lIns="0" tIns="0" rIns="0" bIns="0" rtlCol="0" anchor="ctr"/>
          <a:lstStyle/>
          <a:p>
            <a:pPr algn="l" indent="0" marL="0">
              <a:spcAft>
                <a:spcPts val="500"/>
              </a:spcAft>
              <a:buNone/>
            </a:pPr>
            <a:r>
              <a:rPr sz="1200"/>
              <a:t>APAC leads with 62 NPS, 92% CSAT and 2.2-day delivery.</a:t>
            </a:r>
            <a:endParaRPr lang="en-US" sz="1350" dirty="0"/>
          </a:p>
          <a:p>
            <a:pPr algn="l">
              <a:spcAft>
                <a:spcPts val="500"/>
              </a:spcAft>
            </a:pPr>
            <a:r>
              <a:rPr sz="1200"/>
              <a:t>North America increased to 55 NPS while reducing delivery time to 2.9 days.</a:t>
            </a:r>
          </a:p>
          <a:p>
            <a:pPr algn="l">
              <a:spcAft>
                <a:spcPts val="500"/>
              </a:spcAft>
            </a:pPr>
            <a:r>
              <a:rPr sz="1200"/>
              <a:t>Europe reached 53 NPS and 88% CSAT.</a:t>
            </a:r>
          </a:p>
          <a:p>
            <a:pPr algn="l">
              <a:spcAft>
                <a:spcPts val="500"/>
              </a:spcAft>
            </a:pPr>
            <a:r>
              <a:rPr sz="1200"/>
              <a:t>Latin America declined to 29 NPS as delivery time and support demand increased.</a:t>
            </a:r>
          </a:p>
        </p:txBody>
      </p:sp>
      <p:sp>
        <p:nvSpPr>
          <p:cNvPr id="7" name="icon_3_label"/>
          <p:cNvSpPr txBox="1"/>
          <p:nvPr/>
        </p:nvSpPr>
        <p:spPr>
          <a:xfrm>
            <a:off x="7680960" y="5330952"/>
            <a:ext cx="1051560" cy="722376"/>
          </a:xfrm>
          <a:prstGeom prst="rect">
            <a:avLst/>
          </a:prstGeom>
          <a:noFill/>
          <a:ln/>
        </p:spPr>
        <p:txBody>
          <a:bodyPr wrap="square" lIns="0" tIns="0" rIns="0" bIns="0" rtlCol="0" anchor="t"/>
          <a:lstStyle/>
          <a:p>
            <a:pPr algn="ctr" indent="0" marL="0">
              <a:buNone/>
            </a:pPr>
            <a:r>
              <a:rPr lang="en-US" sz="1300" b="1" dirty="0">
                <a:solidFill>
                  <a:srgbClr val="1E2761"/>
                </a:solidFill>
                <a:latin typeface="Calibri" pitchFamily="34" charset="0"/>
                <a:ea typeface="Calibri" pitchFamily="34" charset="-122"/>
                <a:cs typeface="Calibri" pitchFamily="34" charset="-120"/>
              </a:rPr>
              <a:t>ICON
</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Pick the icon for</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customer experience</a:t>
            </a:r>
            <a:endParaRPr lang="en-US" sz="1300" dirty="0"/>
          </a:p>
        </p:txBody>
      </p:sp>
      <p:sp>
        <p:nvSpPr>
          <p:cNvPr id="8" name="footer_3"/>
          <p:cNvSpPr txBox="1"/>
          <p:nvPr/>
        </p:nvSpPr>
        <p:spPr>
          <a:xfrm>
            <a:off x="548640" y="6510528"/>
            <a:ext cx="7315200" cy="274320"/>
          </a:xfrm>
          <a:prstGeom prst="rect">
            <a:avLst/>
          </a:prstGeom>
          <a:noFill/>
          <a:ln/>
        </p:spPr>
        <p:txBody>
          <a:bodyPr wrap="square" lIns="0" tIns="0" rIns="0" bIns="0" rtlCol="0" anchor="ctr"/>
          <a:lstStyle/>
          <a:p>
            <a:pPr algn="l" indent="0" marL="0">
              <a:buNone/>
            </a:pPr>
            <a:r>
              <a:rPr lang="en-US" sz="950" dirty="0">
                <a:solidFill>
                  <a:srgbClr val="5B6B8C"/>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9" name="page_num_3"/>
          <p:cNvSpPr txBox="1"/>
          <p:nvPr/>
        </p:nvSpPr>
        <p:spPr>
          <a:xfrm>
            <a:off x="11274552" y="6510528"/>
            <a:ext cx="365760" cy="274320"/>
          </a:xfrm>
          <a:prstGeom prst="rect">
            <a:avLst/>
          </a:prstGeom>
          <a:noFill/>
          <a:ln/>
        </p:spPr>
        <p:txBody>
          <a:bodyPr wrap="square" lIns="0" tIns="0" rIns="0" bIns="0" rtlCol="0" anchor="ctr"/>
          <a:lstStyle/>
          <a:p>
            <a:pPr algn="r" indent="0" marL="0">
              <a:buNone/>
            </a:pPr>
            <a:r>
              <a:rPr lang="en-US" sz="950" dirty="0">
                <a:solidFill>
                  <a:srgbClr val="5B6B8C"/>
                </a:solidFill>
                <a:latin typeface="Calibri" pitchFamily="34" charset="0"/>
                <a:ea typeface="Calibri" pitchFamily="34" charset="-122"/>
                <a:cs typeface="Calibri" pitchFamily="34" charset="-120"/>
              </a:rPr>
              <a:t>3</a:t>
            </a:r>
            <a:endParaRPr lang="en-US" sz="950" dirty="0"/>
          </a:p>
        </p:txBody>
      </p:sp>
      <p:pic>
        <p:nvPicPr>
          <p:cNvPr id="10" name="generated_nps_by_region" descr="nps_by_region.png"/>
          <p:cNvPicPr>
            <a:picLocks noChangeAspect="1"/>
          </p:cNvPicPr>
          <p:nvPr/>
        </p:nvPicPr>
        <p:blipFill>
          <a:blip r:embed="rId3"/>
          <a:stretch>
            <a:fillRect/>
          </a:stretch>
        </p:blipFill>
        <p:spPr>
          <a:xfrm>
            <a:off x="548640" y="1417320"/>
            <a:ext cx="6675120" cy="4800600"/>
          </a:xfrm>
          <a:prstGeom prst="rect">
            <a:avLst/>
          </a:prstGeom>
        </p:spPr>
      </p:pic>
      <p:pic>
        <p:nvPicPr>
          <p:cNvPr id="11" name="generated_customer_star" descr="customer_star.png"/>
          <p:cNvPicPr>
            <a:picLocks noChangeAspect="1"/>
          </p:cNvPicPr>
          <p:nvPr/>
        </p:nvPicPr>
        <p:blipFill>
          <a:blip r:embed="rId4"/>
          <a:stretch>
            <a:fillRect/>
          </a:stretch>
        </p:blipFill>
        <p:spPr>
          <a:xfrm>
            <a:off x="7543800" y="5166360"/>
            <a:ext cx="1325880" cy="10515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_4"/>
          <p:cNvSpPr txBox="1"/>
          <p:nvPr/>
        </p:nvSpPr>
        <p:spPr>
          <a:xfrm>
            <a:off x="548640" y="365760"/>
            <a:ext cx="11091672" cy="868680"/>
          </a:xfrm>
          <a:prstGeom prst="rect">
            <a:avLst/>
          </a:prstGeom>
          <a:noFill/>
          <a:ln/>
        </p:spPr>
        <p:txBody>
          <a:bodyPr wrap="square" lIns="0" tIns="0" rIns="0" bIns="0" rtlCol="0" anchor="ctr"/>
          <a:lstStyle/>
          <a:p>
            <a:pPr algn="l" indent="0" marL="0">
              <a:spcAft>
                <a:spcPts val="500"/>
              </a:spcAft>
              <a:buNone/>
            </a:pPr>
            <a:r>
              <a:rPr sz="2200" b="1"/>
              <a:t>Latin America Faces Critical Risk as APAC Capacity Tightens</a:t>
            </a:r>
            <a:endParaRPr lang="en-US" sz="2400" dirty="0"/>
          </a:p>
        </p:txBody>
      </p:sp>
      <p:sp>
        <p:nvSpPr>
          <p:cNvPr id="4" name="chart_risk_label"/>
          <p:cNvSpPr txBox="1"/>
          <p:nvPr/>
        </p:nvSpPr>
        <p:spPr>
          <a:xfrm>
            <a:off x="685800" y="1581912"/>
            <a:ext cx="6400800" cy="4471416"/>
          </a:xfrm>
          <a:prstGeom prst="rect">
            <a:avLst/>
          </a:prstGeom>
          <a:noFill/>
          <a:ln/>
        </p:spPr>
        <p:txBody>
          <a:bodyPr wrap="square" lIns="0" tIns="0" rIns="0" bIns="0" rtlCol="0" anchor="t"/>
          <a:lstStyle/>
          <a:p>
            <a:pPr algn="ctr" indent="0" marL="0">
              <a:buNone/>
            </a:pPr>
            <a:r>
              <a:rPr lang="en-US" sz="1300" b="1" dirty="0">
                <a:solidFill>
                  <a:srgbClr val="1E2761"/>
                </a:solidFill>
                <a:latin typeface="Calibri" pitchFamily="34" charset="0"/>
                <a:ea typeface="Calibri" pitchFamily="34" charset="-122"/>
                <a:cs typeface="Calibri" pitchFamily="34" charset="-120"/>
              </a:rPr>
              <a:t>CHART
</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Insert your chart here.</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Suggested: bar or line chart</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of Stockout Rate or Fraud</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Incidents by Region</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(Operational_Risk sheet)</a:t>
            </a:r>
            <a:endParaRPr lang="en-US" sz="1300" dirty="0"/>
          </a:p>
        </p:txBody>
      </p:sp>
      <p:sp>
        <p:nvSpPr>
          <p:cNvPr id="5" name="insights_risk"/>
          <p:cNvSpPr txBox="1"/>
          <p:nvPr/>
        </p:nvSpPr>
        <p:spPr>
          <a:xfrm>
            <a:off x="7543800" y="1417320"/>
            <a:ext cx="4096512" cy="3474720"/>
          </a:xfrm>
          <a:prstGeom prst="rect">
            <a:avLst/>
          </a:prstGeom>
          <a:noFill/>
          <a:ln/>
        </p:spPr>
        <p:txBody>
          <a:bodyPr wrap="square" lIns="0" tIns="0" rIns="0" bIns="0" rtlCol="0" anchor="ctr"/>
          <a:lstStyle/>
          <a:p>
            <a:pPr algn="l" indent="0" marL="0">
              <a:spcAft>
                <a:spcPts val="500"/>
              </a:spcAft>
              <a:buNone/>
            </a:pPr>
            <a:r>
              <a:rPr sz="1200"/>
              <a:t>Latin America reached a 12.5% stockout rate, the highest across all regions.</a:t>
            </a:r>
            <a:endParaRPr lang="en-US" sz="1350" dirty="0"/>
          </a:p>
          <a:p>
            <a:pPr algn="l">
              <a:spcAft>
                <a:spcPts val="500"/>
              </a:spcAft>
            </a:pPr>
            <a:r>
              <a:rPr sz="1200"/>
              <a:t>Fraud incidents in Latin America increased to 30 in Q2.</a:t>
            </a:r>
          </a:p>
          <a:p>
            <a:pPr algn="l">
              <a:spcAft>
                <a:spcPts val="500"/>
              </a:spcAft>
            </a:pPr>
            <a:r>
              <a:rPr sz="1200"/>
              <a:t>Return processing in Latin America reached 10 days.</a:t>
            </a:r>
          </a:p>
          <a:p>
            <a:pPr algn="l">
              <a:spcAft>
                <a:spcPts val="500"/>
              </a:spcAft>
            </a:pPr>
            <a:r>
              <a:rPr sz="1200"/>
              <a:t>APAC warehouse utilization reached 92%, creating a capacity constraint.</a:t>
            </a:r>
          </a:p>
        </p:txBody>
      </p:sp>
      <p:sp>
        <p:nvSpPr>
          <p:cNvPr id="7" name="icon_4_label"/>
          <p:cNvSpPr txBox="1"/>
          <p:nvPr/>
        </p:nvSpPr>
        <p:spPr>
          <a:xfrm>
            <a:off x="7680960" y="5330952"/>
            <a:ext cx="1051560" cy="722376"/>
          </a:xfrm>
          <a:prstGeom prst="rect">
            <a:avLst/>
          </a:prstGeom>
          <a:noFill/>
          <a:ln/>
        </p:spPr>
        <p:txBody>
          <a:bodyPr wrap="square" lIns="0" tIns="0" rIns="0" bIns="0" rtlCol="0" anchor="t"/>
          <a:lstStyle/>
          <a:p>
            <a:pPr algn="ctr" indent="0" marL="0">
              <a:buNone/>
            </a:pPr>
            <a:r>
              <a:rPr lang="en-US" sz="1300" b="1" dirty="0">
                <a:solidFill>
                  <a:srgbClr val="1E2761"/>
                </a:solidFill>
                <a:latin typeface="Calibri" pitchFamily="34" charset="0"/>
                <a:ea typeface="Calibri" pitchFamily="34" charset="-122"/>
                <a:cs typeface="Calibri" pitchFamily="34" charset="-120"/>
              </a:rPr>
              <a:t>ICON
</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Pick the icon for</a:t>
            </a:r>
            <a:endParaRPr lang="en-US" sz="1300" dirty="0"/>
          </a:p>
          <a:p>
            <a:pPr algn="ctr" indent="0" marL="0">
              <a:buNone/>
            </a:pPr>
            <a:r>
              <a:rPr lang="en-US" sz="1050" i="1" dirty="0">
                <a:solidFill>
                  <a:srgbClr val="1E2761"/>
                </a:solidFill>
                <a:latin typeface="Calibri" pitchFamily="34" charset="0"/>
                <a:ea typeface="Calibri" pitchFamily="34" charset="-122"/>
                <a:cs typeface="Calibri" pitchFamily="34" charset="-120"/>
              </a:rPr>
              <a:t>risk / alert</a:t>
            </a:r>
            <a:endParaRPr lang="en-US" sz="1300" dirty="0"/>
          </a:p>
        </p:txBody>
      </p:sp>
      <p:sp>
        <p:nvSpPr>
          <p:cNvPr id="8" name="footer_4"/>
          <p:cNvSpPr txBox="1"/>
          <p:nvPr/>
        </p:nvSpPr>
        <p:spPr>
          <a:xfrm>
            <a:off x="548640" y="6510528"/>
            <a:ext cx="7315200" cy="274320"/>
          </a:xfrm>
          <a:prstGeom prst="rect">
            <a:avLst/>
          </a:prstGeom>
          <a:noFill/>
          <a:ln/>
        </p:spPr>
        <p:txBody>
          <a:bodyPr wrap="square" lIns="0" tIns="0" rIns="0" bIns="0" rtlCol="0" anchor="ctr"/>
          <a:lstStyle/>
          <a:p>
            <a:pPr algn="l" indent="0" marL="0">
              <a:buNone/>
            </a:pPr>
            <a:r>
              <a:rPr lang="en-US" sz="950" dirty="0">
                <a:solidFill>
                  <a:srgbClr val="5B6B8C"/>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9" name="page_num_4"/>
          <p:cNvSpPr txBox="1"/>
          <p:nvPr/>
        </p:nvSpPr>
        <p:spPr>
          <a:xfrm>
            <a:off x="11274552" y="6510528"/>
            <a:ext cx="365760" cy="274320"/>
          </a:xfrm>
          <a:prstGeom prst="rect">
            <a:avLst/>
          </a:prstGeom>
          <a:noFill/>
          <a:ln/>
        </p:spPr>
        <p:txBody>
          <a:bodyPr wrap="square" lIns="0" tIns="0" rIns="0" bIns="0" rtlCol="0" anchor="ctr"/>
          <a:lstStyle/>
          <a:p>
            <a:pPr algn="r" indent="0" marL="0">
              <a:buNone/>
            </a:pPr>
            <a:r>
              <a:rPr lang="en-US" sz="950" dirty="0">
                <a:solidFill>
                  <a:srgbClr val="5B6B8C"/>
                </a:solidFill>
                <a:latin typeface="Calibri" pitchFamily="34" charset="0"/>
                <a:ea typeface="Calibri" pitchFamily="34" charset="-122"/>
                <a:cs typeface="Calibri" pitchFamily="34" charset="-120"/>
              </a:rPr>
              <a:t>4</a:t>
            </a:r>
            <a:endParaRPr lang="en-US" sz="950" dirty="0"/>
          </a:p>
        </p:txBody>
      </p:sp>
      <p:pic>
        <p:nvPicPr>
          <p:cNvPr id="10" name="generated_stockout_rate" descr="stockout_rate.png"/>
          <p:cNvPicPr>
            <a:picLocks noChangeAspect="1"/>
          </p:cNvPicPr>
          <p:nvPr/>
        </p:nvPicPr>
        <p:blipFill>
          <a:blip r:embed="rId3"/>
          <a:stretch>
            <a:fillRect/>
          </a:stretch>
        </p:blipFill>
        <p:spPr>
          <a:xfrm>
            <a:off x="548640" y="1417320"/>
            <a:ext cx="6675120" cy="4800600"/>
          </a:xfrm>
          <a:prstGeom prst="rect">
            <a:avLst/>
          </a:prstGeom>
        </p:spPr>
      </p:pic>
      <p:pic>
        <p:nvPicPr>
          <p:cNvPr id="11" name="generated_risk_alert" descr="risk_alert.png"/>
          <p:cNvPicPr>
            <a:picLocks noChangeAspect="1"/>
          </p:cNvPicPr>
          <p:nvPr/>
        </p:nvPicPr>
        <p:blipFill>
          <a:blip r:embed="rId4"/>
          <a:stretch>
            <a:fillRect/>
          </a:stretch>
        </p:blipFill>
        <p:spPr>
          <a:xfrm>
            <a:off x="7543800" y="5166360"/>
            <a:ext cx="1325880" cy="10515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itle_5"/>
          <p:cNvSpPr txBox="1"/>
          <p:nvPr/>
        </p:nvSpPr>
        <p:spPr>
          <a:xfrm>
            <a:off x="548640" y="457200"/>
            <a:ext cx="11091672" cy="73152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Recommended Actions &amp; Next Steps</a:t>
            </a:r>
            <a:endParaRPr lang="en-US" sz="2800" dirty="0"/>
          </a:p>
        </p:txBody>
      </p:sp>
      <p:sp>
        <p:nvSpPr>
          <p:cNvPr id="3" name="recommendations_text"/>
          <p:cNvSpPr txBox="1"/>
          <p:nvPr/>
        </p:nvSpPr>
        <p:spPr>
          <a:xfrm>
            <a:off x="548640" y="1463040"/>
            <a:ext cx="6675120" cy="4206240"/>
          </a:xfrm>
          <a:prstGeom prst="rect">
            <a:avLst/>
          </a:prstGeom>
          <a:noFill/>
          <a:ln/>
        </p:spPr>
        <p:txBody>
          <a:bodyPr wrap="square" lIns="0" tIns="0" rIns="0" bIns="0" rtlCol="0" anchor="ctr"/>
          <a:lstStyle/>
          <a:p>
            <a:pPr algn="l" indent="0" marL="0">
              <a:spcAft>
                <a:spcPts val="500"/>
              </a:spcAft>
              <a:buNone/>
            </a:pPr>
            <a:r>
              <a:rPr sz="1400"/>
              <a:t>Stabilize Latin America inventory and delivery performance through an immediate recovery plan.</a:t>
            </a:r>
            <a:endParaRPr lang="en-US" sz="1600" dirty="0"/>
          </a:p>
          <a:p>
            <a:pPr algn="l">
              <a:spcAft>
                <a:spcPts val="500"/>
              </a:spcAft>
            </a:pPr>
            <a:r>
              <a:rPr sz="1400"/>
              <a:t>Strengthen fraud monitoring and exception controls in Latin America.</a:t>
            </a:r>
          </a:p>
          <a:p>
            <a:pPr algn="l">
              <a:spcAft>
                <a:spcPts val="500"/>
              </a:spcAft>
            </a:pPr>
            <a:r>
              <a:rPr sz="1400"/>
              <a:t>Expand or rebalance APAC warehouse capacity before utilization limits growth.</a:t>
            </a:r>
          </a:p>
          <a:p>
            <a:pPr algn="l">
              <a:spcAft>
                <a:spcPts val="500"/>
              </a:spcAft>
            </a:pPr>
            <a:r>
              <a:rPr sz="1400"/>
              <a:t>Protect growth in North America and Europe while monitoring returns and service quality.</a:t>
            </a:r>
          </a:p>
        </p:txBody>
      </p:sp>
      <p:sp>
        <p:nvSpPr>
          <p:cNvPr id="5" name="icon_5_label"/>
          <p:cNvSpPr txBox="1"/>
          <p:nvPr/>
        </p:nvSpPr>
        <p:spPr>
          <a:xfrm>
            <a:off x="7726680" y="1627632"/>
            <a:ext cx="1188720" cy="1133856"/>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ICON
</a:t>
            </a:r>
            <a:endParaRPr lang="en-US" sz="1300" dirty="0"/>
          </a:p>
          <a:p>
            <a:pPr algn="ctr" indent="0" marL="0">
              <a:buNone/>
            </a:pPr>
            <a:r>
              <a:rPr lang="en-US" sz="1050" i="1" dirty="0">
                <a:solidFill>
                  <a:srgbClr val="FFFFFF"/>
                </a:solidFill>
                <a:latin typeface="Calibri" pitchFamily="34" charset="0"/>
                <a:ea typeface="Calibri" pitchFamily="34" charset="-122"/>
                <a:cs typeface="Calibri" pitchFamily="34" charset="-120"/>
              </a:rPr>
              <a:t>Pick the icon for</a:t>
            </a:r>
            <a:endParaRPr lang="en-US" sz="1300" dirty="0"/>
          </a:p>
          <a:p>
            <a:pPr algn="ctr" indent="0" marL="0">
              <a:buNone/>
            </a:pPr>
            <a:r>
              <a:rPr lang="en-US" sz="1050" i="1" dirty="0">
                <a:solidFill>
                  <a:srgbClr val="FFFFFF"/>
                </a:solidFill>
                <a:latin typeface="Calibri" pitchFamily="34" charset="0"/>
                <a:ea typeface="Calibri" pitchFamily="34" charset="-122"/>
                <a:cs typeface="Calibri" pitchFamily="34" charset="-120"/>
              </a:rPr>
              <a:t>action / recommendation</a:t>
            </a:r>
            <a:endParaRPr lang="en-US" sz="1300" dirty="0"/>
          </a:p>
        </p:txBody>
      </p:sp>
      <p:sp>
        <p:nvSpPr>
          <p:cNvPr id="6" name="closing_statement"/>
          <p:cNvSpPr txBox="1"/>
          <p:nvPr/>
        </p:nvSpPr>
        <p:spPr>
          <a:xfrm>
            <a:off x="548640" y="5897880"/>
            <a:ext cx="9235440" cy="457200"/>
          </a:xfrm>
          <a:prstGeom prst="rect">
            <a:avLst/>
          </a:prstGeom>
          <a:noFill/>
          <a:ln/>
        </p:spPr>
        <p:txBody>
          <a:bodyPr wrap="square" lIns="0" tIns="0" rIns="0" bIns="0" rtlCol="0" anchor="ctr"/>
          <a:lstStyle/>
          <a:p>
            <a:pPr algn="l" indent="0" marL="0">
              <a:spcAft>
                <a:spcPts val="500"/>
              </a:spcAft>
              <a:buNone/>
            </a:pPr>
            <a:r>
              <a:rPr sz="1500" b="1"/>
              <a:t>Act now on concentrated regional risks while protecting APAC's growth momentum.</a:t>
            </a:r>
            <a:endParaRPr lang="en-US" sz="1400" dirty="0"/>
          </a:p>
        </p:txBody>
      </p:sp>
      <p:sp>
        <p:nvSpPr>
          <p:cNvPr id="7" name="footer_5"/>
          <p:cNvSpPr txBox="1"/>
          <p:nvPr/>
        </p:nvSpPr>
        <p:spPr>
          <a:xfrm>
            <a:off x="548640" y="6510528"/>
            <a:ext cx="7315200" cy="274320"/>
          </a:xfrm>
          <a:prstGeom prst="rect">
            <a:avLst/>
          </a:prstGeom>
          <a:noFill/>
          <a:ln/>
        </p:spPr>
        <p:txBody>
          <a:bodyPr wrap="square" lIns="0" tIns="0" rIns="0" bIns="0" rtlCol="0" anchor="ctr"/>
          <a:lstStyle/>
          <a:p>
            <a:pPr algn="l" indent="0" marL="0">
              <a:buNone/>
            </a:pPr>
            <a:r>
              <a:rPr lang="en-US" sz="950" dirty="0">
                <a:solidFill>
                  <a:srgbClr val="9FB3E8"/>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8" name="page_num_5"/>
          <p:cNvSpPr txBox="1"/>
          <p:nvPr/>
        </p:nvSpPr>
        <p:spPr>
          <a:xfrm>
            <a:off x="11274552" y="6510528"/>
            <a:ext cx="365760" cy="274320"/>
          </a:xfrm>
          <a:prstGeom prst="rect">
            <a:avLst/>
          </a:prstGeom>
          <a:noFill/>
          <a:ln/>
        </p:spPr>
        <p:txBody>
          <a:bodyPr wrap="square" lIns="0" tIns="0" rIns="0" bIns="0" rtlCol="0" anchor="ctr"/>
          <a:lstStyle/>
          <a:p>
            <a:pPr algn="r" indent="0" marL="0">
              <a:buNone/>
            </a:pPr>
            <a:r>
              <a:rPr lang="en-US" sz="950" dirty="0">
                <a:solidFill>
                  <a:srgbClr val="9FB3E8"/>
                </a:solidFill>
                <a:latin typeface="Calibri" pitchFamily="34" charset="0"/>
                <a:ea typeface="Calibri" pitchFamily="34" charset="-122"/>
                <a:cs typeface="Calibri" pitchFamily="34" charset="-120"/>
              </a:rPr>
              <a:t>5</a:t>
            </a:r>
            <a:endParaRPr lang="en-US" sz="950" dirty="0"/>
          </a:p>
        </p:txBody>
      </p:sp>
      <p:pic>
        <p:nvPicPr>
          <p:cNvPr id="9" name="generated_lightbulb_action" descr="lightbulb_action.png"/>
          <p:cNvPicPr>
            <a:picLocks noChangeAspect="1"/>
          </p:cNvPicPr>
          <p:nvPr/>
        </p:nvPicPr>
        <p:blipFill>
          <a:blip r:embed="rId3"/>
          <a:stretch>
            <a:fillRect/>
          </a:stretch>
        </p:blipFill>
        <p:spPr>
          <a:xfrm>
            <a:off x="7589520" y="1463040"/>
            <a:ext cx="1463040" cy="1463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2026-10-05T14:35:45Z</dcterms:created>
  <dcterms:modified xsi:type="dcterms:W3CDTF">2026-10-05T14:35:45Z</dcterms:modified>
</cp:coreProperties>
</file>